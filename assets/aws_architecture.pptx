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브라우저가 업로드용 임시 URL을 요청하면 Lambda가 5분짜리 서명 URL을 발급합니다. ② 브라우저는 서버를 거치지 않고 이 URL로 S3에 이미지를 직접 올립니다. ③ 선택한 모델 이름과 이미지 위치를 담아 판별을 요청합니다. ④ Lambda가 SageMaker 서버리스 엔드포인트를 호출합니다. ⑤ 엔드포인트는 S3에서 이미지를 읽어 학습 때와 같은 방식으로 얼굴을 자르고, 모델 추론 후 Grad-CAM 히트맵을 S3에 저장합니다. ⑥ 결과는 DynamoDB에 기록되고, 판정·확률·Grad-CAM 주소가 브라우저로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14600" y="704088"/>
            <a:ext cx="9281160" cy="55321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232F3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017520" y="768096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AWS Cloud · 서울 리전 (ap-northeast-2)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14600" y="704088"/>
            <a:ext cx="384048" cy="38404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768096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26880" y="1234440"/>
            <a:ext cx="224028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8A99A8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9436608" y="1298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권한 (IAM)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914400" cy="914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" y="40416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사용자 브라우저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37160" y="42885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데모 UI (HTML)</a:t>
            </a:r>
            <a:endParaRPr lang="en-US" sz="950" dirty="0"/>
          </a:p>
        </p:txBody>
      </p:sp>
      <p:sp>
        <p:nvSpPr>
          <p:cNvPr id="11" name="아이콘 자리 - Amazon API Gateway"/>
          <p:cNvSpPr/>
          <p:nvPr/>
        </p:nvSpPr>
        <p:spPr>
          <a:xfrm>
            <a:off x="3054096" y="3191256"/>
            <a:ext cx="749808" cy="749808"/>
          </a:xfrm>
          <a:prstGeom prst="rect">
            <a:avLst/>
          </a:prstGeom>
          <a:solidFill>
            <a:srgbClr val="E7157B"/>
          </a:solidFill>
          <a:ln w="12700">
            <a:solidFill>
              <a:srgbClr val="E7157B"/>
            </a:solidFill>
            <a:prstDash val="solid"/>
          </a:ln>
        </p:spPr>
      </p:sp>
      <p:pic>
        <p:nvPicPr>
          <p:cNvPr id="12" name="아이콘 - Amazon API Gatewa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3319272"/>
            <a:ext cx="493776" cy="4937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331720" y="3995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Amazon API Gateway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331720" y="424281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HTTP API · CORS</a:t>
            </a:r>
            <a:endParaRPr lang="en-US" sz="950" dirty="0"/>
          </a:p>
        </p:txBody>
      </p:sp>
      <p:sp>
        <p:nvSpPr>
          <p:cNvPr id="15" name="아이콘 자리 - AWS Lambda"/>
          <p:cNvSpPr/>
          <p:nvPr/>
        </p:nvSpPr>
        <p:spPr>
          <a:xfrm>
            <a:off x="5202936" y="1728216"/>
            <a:ext cx="749808" cy="749808"/>
          </a:xfrm>
          <a:prstGeom prst="rect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pic>
        <p:nvPicPr>
          <p:cNvPr id="16" name="아이콘 - AWS Lambd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1856232"/>
            <a:ext cx="493776" cy="49377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8056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48056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업로드 URL 발급</a:t>
            </a:r>
            <a:endParaRPr lang="en-US" sz="950" dirty="0"/>
          </a:p>
        </p:txBody>
      </p:sp>
      <p:sp>
        <p:nvSpPr>
          <p:cNvPr id="19" name="아이콘 자리 - AWS Lambda"/>
          <p:cNvSpPr/>
          <p:nvPr/>
        </p:nvSpPr>
        <p:spPr>
          <a:xfrm>
            <a:off x="5202936" y="3968496"/>
            <a:ext cx="749808" cy="749808"/>
          </a:xfrm>
          <a:prstGeom prst="rect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pic>
        <p:nvPicPr>
          <p:cNvPr id="20" name="아이콘 - AWS Lambd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4096512"/>
            <a:ext cx="493776" cy="4937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8056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4480560" y="5020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판별 요청 처리</a:t>
            </a:r>
            <a:endParaRPr lang="en-US" sz="950" dirty="0"/>
          </a:p>
        </p:txBody>
      </p:sp>
      <p:sp>
        <p:nvSpPr>
          <p:cNvPr id="23" name="아이콘 자리 - Amazon S3"/>
          <p:cNvSpPr/>
          <p:nvPr/>
        </p:nvSpPr>
        <p:spPr>
          <a:xfrm>
            <a:off x="7534656" y="1728216"/>
            <a:ext cx="749808" cy="749808"/>
          </a:xfrm>
          <a:prstGeom prst="rect">
            <a:avLst/>
          </a:prstGeom>
          <a:solidFill>
            <a:srgbClr val="7AA116"/>
          </a:solidFill>
          <a:ln w="12700">
            <a:solidFill>
              <a:srgbClr val="7AA116"/>
            </a:solidFill>
            <a:prstDash val="solid"/>
          </a:ln>
        </p:spPr>
      </p:sp>
      <p:pic>
        <p:nvPicPr>
          <p:cNvPr id="24" name="아이콘 - Amazon S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1856232"/>
            <a:ext cx="493776" cy="49377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1228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681228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업로드 이미지 · Grad-CAM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model.tar.gz</a:t>
            </a:r>
            <a:endParaRPr lang="en-US" sz="950" dirty="0"/>
          </a:p>
        </p:txBody>
      </p:sp>
      <p:sp>
        <p:nvSpPr>
          <p:cNvPr id="27" name="아이콘 자리 - Amazon SageMaker"/>
          <p:cNvSpPr/>
          <p:nvPr/>
        </p:nvSpPr>
        <p:spPr>
          <a:xfrm>
            <a:off x="7534656" y="3968496"/>
            <a:ext cx="749808" cy="749808"/>
          </a:xfrm>
          <a:prstGeom prst="rect">
            <a:avLst/>
          </a:prstGeom>
          <a:solidFill>
            <a:srgbClr val="01A88D"/>
          </a:solidFill>
          <a:ln w="12700">
            <a:solidFill>
              <a:srgbClr val="01A88D"/>
            </a:solidFill>
            <a:prstDash val="solid"/>
          </a:ln>
        </p:spPr>
      </p:sp>
      <p:pic>
        <p:nvPicPr>
          <p:cNvPr id="28" name="아이콘 - Amazon SageMaker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672" y="4096512"/>
            <a:ext cx="493776" cy="49377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81228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Amazon SageMaker</a:t>
            </a:r>
            <a:endParaRPr lang="en-US" sz="1300" dirty="0"/>
          </a:p>
        </p:txBody>
      </p:sp>
      <p:sp>
        <p:nvSpPr>
          <p:cNvPr id="30" name="Text 21"/>
          <p:cNvSpPr txBox="1"/>
          <p:nvPr/>
        </p:nvSpPr>
        <p:spPr>
          <a:xfrm>
            <a:off x="6812280" y="5020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Serverless 엔드포인트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얼굴 크롭 → 추론 → Grad-CAM</a:t>
            </a:r>
            <a:endParaRPr lang="en-US" sz="950" dirty="0"/>
          </a:p>
        </p:txBody>
      </p:sp>
      <p:sp>
        <p:nvSpPr>
          <p:cNvPr id="31" name="아이콘 자리 - Amazon DynamoDB"/>
          <p:cNvSpPr/>
          <p:nvPr/>
        </p:nvSpPr>
        <p:spPr>
          <a:xfrm>
            <a:off x="10049256" y="3968496"/>
            <a:ext cx="749808" cy="749808"/>
          </a:xfrm>
          <a:prstGeom prst="rect">
            <a:avLst/>
          </a:prstGeom>
          <a:solidFill>
            <a:srgbClr val="C925D1"/>
          </a:solidFill>
          <a:ln w="12700">
            <a:solidFill>
              <a:srgbClr val="C925D1"/>
            </a:solidFill>
            <a:prstDash val="solid"/>
          </a:ln>
        </p:spPr>
      </p:sp>
      <p:pic>
        <p:nvPicPr>
          <p:cNvPr id="32" name="아이콘 - Amazon DynamoDB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7272" y="4096512"/>
            <a:ext cx="493776" cy="49377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32688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Amazon DynamoDB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9326880" y="50200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판별 결과 기록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9656064" y="1837944"/>
            <a:ext cx="475488" cy="475488"/>
          </a:xfrm>
          <a:prstGeom prst="rect">
            <a:avLst/>
          </a:prstGeom>
          <a:solidFill>
            <a:srgbClr val="DD344C"/>
          </a:solidFill>
          <a:ln w="12700">
            <a:solidFill>
              <a:srgbClr val="DD344C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360" y="1920240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345168" y="2359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SageMaker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실행 역할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10762488" y="1837944"/>
            <a:ext cx="475488" cy="475488"/>
          </a:xfrm>
          <a:prstGeom prst="rect">
            <a:avLst/>
          </a:prstGeom>
          <a:solidFill>
            <a:srgbClr val="DD344C"/>
          </a:solidFill>
          <a:ln w="12700">
            <a:solidFill>
              <a:srgbClr val="DD344C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4784" y="1920240"/>
            <a:ext cx="310896" cy="31089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451592" y="23591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Lambda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실행 역할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1417320" y="3410712"/>
            <a:ext cx="1636776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42" name="Shape 30"/>
          <p:cNvSpPr/>
          <p:nvPr/>
        </p:nvSpPr>
        <p:spPr>
          <a:xfrm>
            <a:off x="1746504" y="2926080"/>
            <a:ext cx="384048" cy="38404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1746504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Text 32"/>
          <p:cNvSpPr txBox="1"/>
          <p:nvPr/>
        </p:nvSpPr>
        <p:spPr>
          <a:xfrm>
            <a:off x="1325880" y="2743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POST /upload-url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3803904" y="3566160"/>
            <a:ext cx="676656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46" name="Shape 34"/>
          <p:cNvSpPr/>
          <p:nvPr/>
        </p:nvSpPr>
        <p:spPr>
          <a:xfrm flipV="1">
            <a:off x="4480560" y="2103120"/>
            <a:ext cx="0" cy="146304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47" name="Shape 35"/>
          <p:cNvSpPr/>
          <p:nvPr/>
        </p:nvSpPr>
        <p:spPr>
          <a:xfrm>
            <a:off x="4480560" y="2103120"/>
            <a:ext cx="722376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48" name="Shape 36"/>
          <p:cNvSpPr/>
          <p:nvPr/>
        </p:nvSpPr>
        <p:spPr>
          <a:xfrm>
            <a:off x="5952744" y="2103120"/>
            <a:ext cx="1581912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dash"/>
            <a:tailEnd type="triangle"/>
          </a:ln>
        </p:spPr>
      </p:sp>
      <p:sp>
        <p:nvSpPr>
          <p:cNvPr id="49" name="Text 37"/>
          <p:cNvSpPr txBox="1"/>
          <p:nvPr/>
        </p:nvSpPr>
        <p:spPr>
          <a:xfrm>
            <a:off x="6035040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5분짜리 서명 URL 생성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 flipV="1">
            <a:off x="914400" y="1417320"/>
            <a:ext cx="0" cy="169164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51" name="Shape 39"/>
          <p:cNvSpPr/>
          <p:nvPr/>
        </p:nvSpPr>
        <p:spPr>
          <a:xfrm>
            <a:off x="914400" y="1417320"/>
            <a:ext cx="6995160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52" name="Shape 40"/>
          <p:cNvSpPr/>
          <p:nvPr/>
        </p:nvSpPr>
        <p:spPr>
          <a:xfrm>
            <a:off x="7909560" y="1417320"/>
            <a:ext cx="0" cy="310896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53" name="Shape 41"/>
          <p:cNvSpPr/>
          <p:nvPr/>
        </p:nvSpPr>
        <p:spPr>
          <a:xfrm>
            <a:off x="722376" y="1911096"/>
            <a:ext cx="384048" cy="38404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722376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2</a:t>
            </a:r>
            <a:endParaRPr lang="en-US" sz="1400" dirty="0"/>
          </a:p>
        </p:txBody>
      </p:sp>
      <p:sp>
        <p:nvSpPr>
          <p:cNvPr id="55" name="Text 43"/>
          <p:cNvSpPr txBox="1"/>
          <p:nvPr/>
        </p:nvSpPr>
        <p:spPr>
          <a:xfrm>
            <a:off x="2743200" y="1143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PUT 이미지 (S3 직접 업로드)</a:t>
            </a:r>
            <a:endParaRPr lang="en-US" sz="950" dirty="0"/>
          </a:p>
        </p:txBody>
      </p:sp>
      <p:sp>
        <p:nvSpPr>
          <p:cNvPr id="56" name="Shape 44"/>
          <p:cNvSpPr/>
          <p:nvPr/>
        </p:nvSpPr>
        <p:spPr>
          <a:xfrm>
            <a:off x="1417320" y="3721608"/>
            <a:ext cx="1636776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57" name="Shape 45"/>
          <p:cNvSpPr/>
          <p:nvPr/>
        </p:nvSpPr>
        <p:spPr>
          <a:xfrm>
            <a:off x="1746504" y="3822192"/>
            <a:ext cx="384048" cy="38404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1746504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3</a:t>
            </a:r>
            <a:endParaRPr lang="en-US" sz="1400" dirty="0"/>
          </a:p>
        </p:txBody>
      </p:sp>
      <p:sp>
        <p:nvSpPr>
          <p:cNvPr id="59" name="Text 47"/>
          <p:cNvSpPr txBox="1"/>
          <p:nvPr/>
        </p:nvSpPr>
        <p:spPr>
          <a:xfrm>
            <a:off x="1325880" y="4251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POST /detect</a:t>
            </a:r>
            <a:endParaRPr lang="en-US" sz="950" dirty="0"/>
          </a:p>
        </p:txBody>
      </p:sp>
      <p:sp>
        <p:nvSpPr>
          <p:cNvPr id="60" name="Shape 48"/>
          <p:cNvSpPr/>
          <p:nvPr/>
        </p:nvSpPr>
        <p:spPr>
          <a:xfrm>
            <a:off x="4480560" y="3566160"/>
            <a:ext cx="0" cy="77724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61" name="Shape 49"/>
          <p:cNvSpPr/>
          <p:nvPr/>
        </p:nvSpPr>
        <p:spPr>
          <a:xfrm>
            <a:off x="4480560" y="4343400"/>
            <a:ext cx="722376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62" name="Shape 50"/>
          <p:cNvSpPr/>
          <p:nvPr/>
        </p:nvSpPr>
        <p:spPr>
          <a:xfrm>
            <a:off x="5952744" y="4343400"/>
            <a:ext cx="1581912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63" name="Shape 51"/>
          <p:cNvSpPr/>
          <p:nvPr/>
        </p:nvSpPr>
        <p:spPr>
          <a:xfrm>
            <a:off x="6556248" y="3877056"/>
            <a:ext cx="384048" cy="38404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6556248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4</a:t>
            </a:r>
            <a:endParaRPr lang="en-US" sz="1400" dirty="0"/>
          </a:p>
        </p:txBody>
      </p:sp>
      <p:sp>
        <p:nvSpPr>
          <p:cNvPr id="65" name="Text 53"/>
          <p:cNvSpPr txBox="1"/>
          <p:nvPr/>
        </p:nvSpPr>
        <p:spPr>
          <a:xfrm>
            <a:off x="6035040" y="44897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모델 선택 후 호출</a:t>
            </a:r>
            <a:endParaRPr lang="en-US" sz="950" dirty="0"/>
          </a:p>
        </p:txBody>
      </p:sp>
      <p:sp>
        <p:nvSpPr>
          <p:cNvPr id="66" name="Shape 54"/>
          <p:cNvSpPr/>
          <p:nvPr/>
        </p:nvSpPr>
        <p:spPr>
          <a:xfrm flipV="1">
            <a:off x="7909560" y="3136392"/>
            <a:ext cx="0" cy="832104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67" name="Shape 55"/>
          <p:cNvSpPr/>
          <p:nvPr/>
        </p:nvSpPr>
        <p:spPr>
          <a:xfrm>
            <a:off x="8019288" y="3127248"/>
            <a:ext cx="384048" cy="38404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68" name="Text 56"/>
          <p:cNvSpPr txBox="1"/>
          <p:nvPr/>
        </p:nvSpPr>
        <p:spPr>
          <a:xfrm>
            <a:off x="80192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5</a:t>
            </a:r>
            <a:endParaRPr lang="en-US" sz="1400" dirty="0"/>
          </a:p>
        </p:txBody>
      </p:sp>
      <p:sp>
        <p:nvSpPr>
          <p:cNvPr id="69" name="Text 57"/>
          <p:cNvSpPr txBox="1"/>
          <p:nvPr/>
        </p:nvSpPr>
        <p:spPr>
          <a:xfrm>
            <a:off x="8485632" y="318211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이미지 읽기 · Grad-CAM 저장</a:t>
            </a:r>
            <a:endParaRPr lang="en-US" sz="950" dirty="0"/>
          </a:p>
        </p:txBody>
      </p:sp>
      <p:sp>
        <p:nvSpPr>
          <p:cNvPr id="70" name="Shape 58"/>
          <p:cNvSpPr/>
          <p:nvPr/>
        </p:nvSpPr>
        <p:spPr>
          <a:xfrm>
            <a:off x="5577840" y="5376672"/>
            <a:ext cx="0" cy="41148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71" name="Shape 59"/>
          <p:cNvSpPr/>
          <p:nvPr/>
        </p:nvSpPr>
        <p:spPr>
          <a:xfrm>
            <a:off x="5577840" y="5788152"/>
            <a:ext cx="4846320" cy="0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none"/>
          </a:ln>
        </p:spPr>
      </p:sp>
      <p:sp>
        <p:nvSpPr>
          <p:cNvPr id="72" name="Shape 60"/>
          <p:cNvSpPr/>
          <p:nvPr/>
        </p:nvSpPr>
        <p:spPr>
          <a:xfrm flipV="1">
            <a:off x="10424160" y="5266944"/>
            <a:ext cx="0" cy="521208"/>
          </a:xfrm>
          <a:prstGeom prst="line">
            <a:avLst/>
          </a:prstGeom>
          <a:noFill/>
          <a:ln w="25400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73" name="Shape 61"/>
          <p:cNvSpPr/>
          <p:nvPr/>
        </p:nvSpPr>
        <p:spPr>
          <a:xfrm>
            <a:off x="8860536" y="5596128"/>
            <a:ext cx="384048" cy="38404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74" name="Text 62"/>
          <p:cNvSpPr txBox="1"/>
          <p:nvPr/>
        </p:nvSpPr>
        <p:spPr>
          <a:xfrm>
            <a:off x="8860536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요청 흐름과 설계 포인트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3776" y="1124712"/>
            <a:ext cx="438912" cy="4389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3776" y="1124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업로드 URL 발급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081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브라우저가 POST /upload-url 호출 → Lambda가 5분 유효 서명 URL 반환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3776" y="1993392"/>
            <a:ext cx="438912" cy="4389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S3 직접 업로드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2768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브라우저가 서명 URL로 이미지를 PUT → API 용량 제한 없이 업로드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" y="2862072"/>
            <a:ext cx="438912" cy="4389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" y="2862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34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판별 요청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455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POST /detect에 이미지 위치와 모델(moe_ffd · aug_only · v4 · augphase) 전달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" y="3730752"/>
            <a:ext cx="438912" cy="4389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03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서버리스 추론 호출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142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Lambda가 SageMaker Serverless 엔드포인트(CPU 6GB) 호출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" y="4599432"/>
            <a:ext cx="438912" cy="4389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" y="4599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572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전처리 · 추론 · 설명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8828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MTCNN 크롭(30% 여백, 224px) → ViT-MoE 추론 → Grad-CAM을 S3에 저장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3776" y="5468112"/>
            <a:ext cx="438912" cy="438912"/>
          </a:xfrm>
          <a:prstGeom prst="ellipse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" y="5468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5440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결과 기록 · 응답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7515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DynamoDB에 이력 저장, 판정 · Fake 확률 · Grad-CAM URL을 UI로 반환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4434840" cy="11155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1280160"/>
            <a:ext cx="274320" cy="274320"/>
          </a:xfrm>
          <a:prstGeom prst="ellipse">
            <a:avLst/>
          </a:prstGeom>
          <a:solidFill>
            <a:srgbClr val="7AA116"/>
          </a:solidFill>
          <a:ln w="12700">
            <a:solidFill>
              <a:srgbClr val="7AA1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1252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서버를 거치지 않는 업로드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160934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서명 URL로 S3에 직접 올려 Lambda · API Gateway의 요청 크기 제한을 피함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15200" y="2395728"/>
            <a:ext cx="4434840" cy="11155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578608"/>
            <a:ext cx="274320" cy="274320"/>
          </a:xfrm>
          <a:prstGeom prst="ellipse">
            <a:avLst/>
          </a:prstGeom>
          <a:solidFill>
            <a:srgbClr val="01A88D"/>
          </a:solidFill>
          <a:ln w="12700">
            <a:solidFill>
              <a:srgbClr val="01A88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09560" y="25511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쓴 만큼만 과금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290779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Serverless 추론이라 요청이 없으면 비용 0. 첫 요청은 콜드스타트로 느려 시연 전 워밍업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15200" y="3694176"/>
            <a:ext cx="4434840" cy="11155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877056"/>
            <a:ext cx="274320" cy="274320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09560" y="3849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학습 조건과 동일한 추론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420624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정규화(0.5) · 크롭 방식 · threshold를 학습 코드에서 가져와 그대로 적용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0" y="4992624"/>
            <a:ext cx="4434840" cy="11155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5175504"/>
            <a:ext cx="274320" cy="274320"/>
          </a:xfrm>
          <a:prstGeom prst="ellipse">
            <a:avLst/>
          </a:prstGeom>
          <a:solidFill>
            <a:srgbClr val="DD344C"/>
          </a:solidFill>
          <a:ln w="12700">
            <a:solidFill>
              <a:srgbClr val="DD344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09560" y="51480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제한된 계정 권한 대응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7909560" y="550468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mazon Ember" pitchFamily="34" charset="0"/>
                <a:ea typeface="Malgun Gothic" pitchFamily="34" charset="-127"/>
                <a:cs typeface="Amazon Ember" pitchFamily="34" charset="-120"/>
              </a:rPr>
              <a:t>인라인 정책 대신 sagemaker 접두 버킷 이름, 콘솔 대신 CLI로 Lambda 생성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딥페이크 탐지 서비스 AWS 아키텍처</dc:title>
  <dc:subject>PptxGenJS Presentation</dc:subject>
  <dc:creator>PptxGenJS</dc:creator>
  <cp:lastModifiedBy>PptxGenJS</cp:lastModifiedBy>
  <cp:revision>1</cp:revision>
  <dcterms:created xsi:type="dcterms:W3CDTF">2026-09-28T01:34:22Z</dcterms:created>
  <dcterms:modified xsi:type="dcterms:W3CDTF">2026-09-28T01:34:22Z</dcterms:modified>
</cp:coreProperties>
</file>